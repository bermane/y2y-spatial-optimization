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slide. Methods live in the study plan v0.16.1; this package = director_package_spec v1.6.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Dose table from 22 (spec/E18_dose_table.csv; results_log R10.13/R10.14, methods_log M4.21/M4.22). 'Lead vs refugia' = per-cell shortfall cost of the led block's 10,000 densest unprotected cells relative to refugia's under the same weights/targets; it is charged only while the value sits below its target, which is why the weights-only carbon arm scores high yet owns almost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Where Y2Y's values agree — and where they diverge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12 value positions (6 scenarios × 2 climate futures for refugia) × 51 near-optimal plans each</a:t>
            </a:r>
          </a:p>
          <a:p>
            <a:pPr>
              <a:defRPr sz="1300"/>
            </a:pPr>
            <a:r>
              <a:t>30% of the region; existing PAs locked in — they are 15% of the region (50% of the budget) and already bank 12–19% of every value (35/40 ecosystem groups present) — remarkably AVERAGE land for these values</a:t>
            </a:r>
          </a:p>
          <a:p>
            <a:pPr>
              <a:defRPr sz="1300"/>
            </a:pPr>
            <a:r>
              <a:t>Every plan keeps every value theme within 5% of its best</a:t>
            </a:r>
          </a:p>
          <a:p>
            <a:pPr>
              <a:defRPr sz="1300"/>
            </a:pPr>
            <a:r>
              <a:t>Representativeness block curated before this run (rule R0): 40 ecosystem features kept of 40 — anthropogenic biomes, a point-record class, sub-grain slivers and one uninformative envelope removed; two duplicate footprints merged</a:t>
            </a:r>
          </a:p>
          <a:p>
            <a:pPr>
              <a:defRPr sz="1300"/>
            </a:pPr>
            <a:r>
              <a:t>The spine of the story: VALUE (where a theme is rich) is not IRREPLACEABILITY (where near-optimal plans cannot do without 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How to read the maps</a:t>
            </a:r>
          </a:p>
        </p:txBody>
      </p:sp>
      <p:pic>
        <p:nvPicPr>
          <p:cNvPr id="3" name="Picture 2" descr="slide2_how_to_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50341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Grey = existing protected areas (fixed in every plan)</a:t>
            </a:r>
          </a:p>
          <a:p>
            <a:pPr>
              <a:defRPr sz="1300"/>
            </a:pPr>
            <a:r>
              <a:t>1 km tiers drive the clustering; cluster outlines are 1 km polygons, not hex unions</a:t>
            </a:r>
          </a:p>
          <a:p>
            <a:pPr>
              <a:defRPr sz="1300"/>
            </a:pPr>
            <a:r>
              <a:t>Hexes (~250 km²) are for legibility only — our DISPLAY hex ≈ the national 30×30 analysis's PLANNING unit (100 km²); our analysis runs at 1 km², two orders of magnitude finer ('this valley', not 'this ecodistrict')</a:t>
            </a:r>
          </a:p>
          <a:p>
            <a:pPr>
              <a:defRPr sz="1300"/>
            </a:pPr>
            <a:r>
              <a:t>51 near-optimal plans × 12 value positions, versus 4 plans in the national analysis</a:t>
            </a:r>
          </a:p>
          <a:p>
            <a:pPr>
              <a:defRPr sz="1300"/>
            </a:pPr>
            <a:r>
              <a:t>53°N marked: see the E17 one-pager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1 — Where the values are</a:t>
            </a:r>
          </a:p>
        </p:txBody>
      </p:sp>
      <p:pic>
        <p:nvPicPr>
          <p:cNvPr id="3" name="Picture 2" descr="act1_values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3507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Each PROACT theme's value before any optimization: the top 30% of unprotected land by that theme (share per hex)</a:t>
            </a:r>
          </a:p>
          <a:p>
            <a:pPr>
              <a:defRPr sz="1300"/>
            </a:pPr>
            <a:r>
              <a:t>Footprints: core habitat 324,566 km², connectivity 324,567 km², biodiversity 324,641 km², carbon 324,566 km², representativeness 32,108 km²</a:t>
            </a:r>
          </a:p>
          <a:p>
            <a:pPr>
              <a:defRPr sz="1300"/>
            </a:pPr>
            <a:r>
              <a:t>Representativeness votes as presence of a scarce ecosystem class (≤1% of the region each); intactness shown sixth — disclosed, not a driver</a:t>
            </a:r>
          </a:p>
          <a:p>
            <a:pPr>
              <a:defRPr sz="1300"/>
            </a:pPr>
            <a:r>
              <a:t>This is the map directors already hold in their heads — the national analyses (Currie, Jung) stop here; the next acts ask what of it can be promised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1 — Where the values converge</a:t>
            </a:r>
          </a:p>
        </p:txBody>
      </p:sp>
      <p:pic>
        <p:nvPicPr>
          <p:cNvPr id="3" name="Picture 2" descr="act1_value_convergence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8615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Count of the five themes (0–5) in which a cell is top-30%: 0: 195,628 km², 1: 495,036 km², 2: 339,403 km², 3: 50,666 km², 4: 1,152 km², 5: 0 km²</a:t>
            </a:r>
          </a:p>
          <a:p>
            <a:pPr>
              <a:defRPr sz="1300"/>
            </a:pPr>
            <a:r>
              <a:t>886,257 km² (82% of unprotected land) is high-value for at least one theme</a:t>
            </a:r>
          </a:p>
          <a:p>
            <a:pPr>
              <a:defRPr sz="1300"/>
            </a:pPr>
            <a:r>
              <a:t>Value is not irreplaceability: Acts 2–3 show how much of this the ensemble can promise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2 — Core irreplaceability</a:t>
            </a:r>
          </a:p>
        </p:txBody>
      </p:sp>
      <p:pic>
        <p:nvPicPr>
          <p:cNvPr id="3" name="Picture 2" descr="act2_core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255295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Of everything in Act 1, these areas recur in near-optimal plans no matter whose values prevail: 16,895 km² (F ≥ 0.70 across all 12 positions)</a:t>
            </a:r>
          </a:p>
          <a:p>
            <a:pPr>
              <a:defRPr sz="1300"/>
            </a:pPr>
            <a:r>
              <a:t>No value theme left more than 5% behind in any plan</a:t>
            </a:r>
          </a:p>
          <a:p>
            <a:pPr>
              <a:defRPr sz="1300"/>
            </a:pPr>
            <a:r>
              <a:t>Numbered = the largest core clusters (full register in the appendix)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2 core under the high-emissions refugia future</a:t>
            </a:r>
          </a:p>
        </p:txBody>
      </p:sp>
      <p:pic>
        <p:nvPicPr>
          <p:cNvPr id="3" name="Picture 2" descr="act2_core_ssp585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11478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6 value positions at SSP585: core 17,308 km²</a:t>
            </a:r>
          </a:p>
          <a:p>
            <a:pPr>
              <a:defRPr sz="1300"/>
            </a:pPr>
            <a:r>
              <a:t>80% of the 12-position core lies inside it</a:t>
            </a:r>
          </a:p>
          <a:p>
            <a:pPr>
              <a:defRPr sz="1300"/>
            </a:pPr>
            <a:r>
              <a:t>The 12-position core = what survives BOTH refugia futures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2 core under the low-emissions refugia future</a:t>
            </a:r>
          </a:p>
        </p:txBody>
      </p:sp>
      <p:pic>
        <p:nvPicPr>
          <p:cNvPr id="3" name="Picture 2" descr="act2_core_ssp245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11478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6 value positions at SSP245: core 28,612 km²</a:t>
            </a:r>
          </a:p>
          <a:p>
            <a:pPr>
              <a:defRPr sz="1300"/>
            </a:pPr>
            <a:r>
              <a:t>87% of the 12-position core lies inside it</a:t>
            </a:r>
          </a:p>
          <a:p>
            <a:pPr>
              <a:defRPr sz="1300"/>
            </a:pPr>
            <a:r>
              <a:t>The 12-position core = what survives BOTH refugia futures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Where the core depends on the climate future</a:t>
            </a:r>
          </a:p>
        </p:txBody>
      </p:sp>
      <p:pic>
        <p:nvPicPr>
          <p:cNvPr id="3" name="Picture 2" descr="act2_two_way_cl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74391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One hex, two refugia futures: bivariate F</a:t>
            </a:r>
          </a:p>
          <a:p>
            <a:pPr>
              <a:defRPr sz="1300"/>
            </a:pPr>
            <a:r>
              <a:t>Yellow = core under both futures; orange = only if emissions run high; green = only if they stay low</a:t>
            </a:r>
          </a:p>
          <a:p>
            <a:pPr>
              <a:defRPr sz="1300"/>
            </a:pPr>
            <a:r>
              <a:t>The 12-position core is what survives 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Why these places — core clusters</a:t>
            </a:r>
          </a:p>
        </p:txBody>
      </p:sp>
      <p:pic>
        <p:nvPicPr>
          <p:cNvPr id="3" name="Picture 2" descr="act2_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4825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Core clusters spike on BINDING claims (dense climate refugia, scarce ecosystems) rather than excelling everywhere</a:t>
            </a:r>
          </a:p>
          <a:p>
            <a:pPr>
              <a:defRPr sz="1300"/>
            </a:pPr>
            <a:r>
              <a:t>Histogram of F: act2_F_histogram.png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3 — Core-habitat-forward: value vs irreplaceability</a:t>
            </a:r>
          </a:p>
        </p:txBody>
      </p:sp>
      <p:pic>
        <p:nvPicPr>
          <p:cNvPr id="3" name="Picture 2" descr="act3_s1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23341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Left: where the theme's value is (Act 1). Right: what becomes irreplaceable when this value leads — its frequent tier, clusters outside the core numbered</a:t>
            </a:r>
          </a:p>
          <a:p>
            <a:pPr>
              <a:defRPr sz="1300"/>
            </a:pPr>
            <a:r>
              <a:t>Frequent tier 48,828 km²; own land (outside the core and the other scenarios' tiers) 29,249 km²</a:t>
            </a:r>
          </a:p>
          <a:p>
            <a:pPr>
              <a:defRPr sz="1300"/>
            </a:pPr>
            <a:r>
              <a:t>Orange outlines = Nations' declared IPCA proposals — overlap is independent convergence, not assignment</a:t>
            </a:r>
          </a:p>
          <a:p>
            <a:pPr>
              <a:defRPr sz="1300"/>
            </a:pPr>
            <a:r>
              <a:t>Precedent: the national 30×30 analysis (Currie et al. 2025) reports that proposed IPCAs coincide with priority areas and that Indigenous priorities supersede top-down prioritization — rights and title are not contingent on GBF compatibility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3 — Connectivity-forward: value vs irreplaceability</a:t>
            </a:r>
          </a:p>
        </p:txBody>
      </p:sp>
      <p:pic>
        <p:nvPicPr>
          <p:cNvPr id="3" name="Picture 2" descr="act3_s2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23341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Left: where the theme's value is (Act 1). Right: what becomes irreplaceable when this value leads — its frequent tier, clusters outside the core numbered</a:t>
            </a:r>
          </a:p>
          <a:p>
            <a:pPr>
              <a:defRPr sz="1300"/>
            </a:pPr>
            <a:r>
              <a:t>Frequent tier 10,449 km²; own land (outside the core and the other scenarios' tiers) 844 km²</a:t>
            </a:r>
          </a:p>
          <a:p>
            <a:pPr>
              <a:defRPr sz="1300"/>
            </a:pPr>
            <a:r>
              <a:t>Orange outlines = Nations' declared IPCA proposals — overlap is independent convergence, not assignment</a:t>
            </a:r>
          </a:p>
          <a:p>
            <a:pPr>
              <a:defRPr sz="1300"/>
            </a:pPr>
            <a:r>
              <a:t>Precedent: the national 30×30 analysis (Currie et al. 2025) reports that proposed IPCAs coincide with priority areas and that Indigenous priorities supersede top-down prioritization — rights and title are not contingent on GBF compatibility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3 — Biodiversity-forward: value vs irreplaceability</a:t>
            </a:r>
          </a:p>
        </p:txBody>
      </p:sp>
      <p:pic>
        <p:nvPicPr>
          <p:cNvPr id="3" name="Picture 2" descr="act3_s3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23341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Left: where the theme's value is (Act 1). Right: what becomes irreplaceable when this value leads — its frequent tier, clusters outside the core numbered</a:t>
            </a:r>
          </a:p>
          <a:p>
            <a:pPr>
              <a:defRPr sz="1300"/>
            </a:pPr>
            <a:r>
              <a:t>Frequent tier 7,924 km²; own land (outside the core and the other scenarios' tiers) 407 km²</a:t>
            </a:r>
          </a:p>
          <a:p>
            <a:pPr>
              <a:defRPr sz="1300"/>
            </a:pPr>
            <a:r>
              <a:t>Orange outlines = Nations' declared IPCA proposals — overlap is independent convergence, not assignment</a:t>
            </a:r>
          </a:p>
          <a:p>
            <a:pPr>
              <a:defRPr sz="1300"/>
            </a:pPr>
            <a:r>
              <a:t>Precedent: the national 30×30 analysis (Currie et al. 2025) reports that proposed IPCAs coincide with priority areas and that Indigenous priorities supersede top-down prioritization — rights and title are not contingent on GBF compatibility</a:t>
            </a:r>
          </a:p>
          <a:p>
            <a:pPr>
              <a:defRPr sz="1300"/>
            </a:pPr>
            <a:r>
              <a:t>no irreplaceable places at any emphasis (E18); every near-optimal plan holds 29–34% of AOH richness — the finding IS the product: the value map (left) is where to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3 — Carbon-forward: value vs irreplaceability</a:t>
            </a:r>
          </a:p>
        </p:txBody>
      </p:sp>
      <p:pic>
        <p:nvPicPr>
          <p:cNvPr id="3" name="Picture 2" descr="act3_s4_hex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23341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Left: where the theme's value is (Act 1). Right: what becomes irreplaceable when this value leads — its frequent tier, clusters outside the core numbered</a:t>
            </a:r>
          </a:p>
          <a:p>
            <a:pPr>
              <a:defRPr sz="1300"/>
            </a:pPr>
            <a:r>
              <a:t>Frequent tier 34,352 km²; own land (outside the core and the other scenarios' tiers) 19,937 km²</a:t>
            </a:r>
          </a:p>
          <a:p>
            <a:pPr>
              <a:defRPr sz="1300"/>
            </a:pPr>
            <a:r>
              <a:t>Orange outlines = Nations' declared IPCA proposals — overlap is independent convergence, not assignment</a:t>
            </a:r>
          </a:p>
          <a:p>
            <a:pPr>
              <a:defRPr sz="1300"/>
            </a:pPr>
            <a:r>
              <a:t>Precedent: the national 30×30 analysis (Currie et al. 2025) reports that proposed IPCAs coincide with priority areas and that Indigenous priorities supersede top-down prioritization — rights and title are not contingent on GBF compatibility</a:t>
            </a:r>
          </a:p>
          <a:p>
            <a:pPr>
              <a:defRPr sz="1300"/>
            </a:pPr>
            <a:r>
              <a:t>carbon-forward is the only scenario that also states a security target (55% of dense soil carbon); given only the share doubling the other values get it would own ~760 km², not ~20,300</a:t>
            </a:r>
          </a:p>
          <a:p>
            <a:pPr>
              <a:defRPr sz="1300"/>
            </a:pPr>
            <a:r>
              <a:t>carbon has a target lever because its geometry admitted a stopping rule; the diffuse values cannot; the asymmetry is the landscape's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Scenario clusters — value profiles</a:t>
            </a:r>
          </a:p>
        </p:txBody>
      </p:sp>
      <p:pic>
        <p:nvPicPr>
          <p:cNvPr id="3" name="Picture 2" descr="act3_sta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4825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Each scenario's two largest clusters outside the core</a:t>
            </a:r>
          </a:p>
          <a:p>
            <a:pPr>
              <a:defRPr sz="1300"/>
            </a:pPr>
            <a:r>
              <a:t>Same radial scale as the core stars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Hinge — value convergence × what can be promised</a:t>
            </a:r>
          </a:p>
        </p:txBody>
      </p:sp>
      <p:pic>
        <p:nvPicPr>
          <p:cNvPr id="3" name="Picture 2" descr="hinge_convergence_x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3983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Rows: how many themes rate the cell top-30%; columns: the ensemble's reliability class</a:t>
            </a:r>
          </a:p>
          <a:p>
            <a:pPr>
              <a:defRPr sz="1300"/>
            </a:pPr>
            <a:r>
              <a:t>High value / core = the easy sell</a:t>
            </a:r>
          </a:p>
          <a:p>
            <a:pPr>
              <a:defRPr sz="1300"/>
            </a:pPr>
            <a:r>
              <a:t>High value / opportunity = Act 4's territory — near-optimal plans absorb it</a:t>
            </a:r>
          </a:p>
          <a:p>
            <a:pPr>
              <a:defRPr sz="1300"/>
            </a:pPr>
            <a:r>
              <a:t>Low value / core = the E13 surprise: binding claims in unglamorous places — point at it in the room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Why these places (driver attribution)</a:t>
            </a:r>
          </a:p>
        </p:txBody>
      </p:sp>
      <p:pic>
        <p:nvPicPr>
          <p:cNvPr id="3" name="Picture 2" descr="why_these_pl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363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High frequency follows binding scarcity, not the most-valued layer</a:t>
            </a:r>
          </a:p>
          <a:p>
            <a:pPr>
              <a:defRPr sz="1300"/>
            </a:pPr>
            <a:r>
              <a:t>Dense climate refugia pin the core under every value position; dense soil carbon under carbon-forward values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Act 4 — The opportunity landscape: the measured gap</a:t>
            </a:r>
          </a:p>
        </p:txBody>
      </p:sp>
      <p:pic>
        <p:nvPicPr>
          <p:cNvPr id="3" name="Picture 2" descr="act4_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138726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815,442 km² of high-value land (92% of it) sits outside the core and every scenario tier</a:t>
            </a:r>
          </a:p>
          <a:p>
            <a:pPr>
              <a:defRPr sz="1300"/>
            </a:pPr>
            <a:r>
              <a:t>Near-optimal plans absorb it: 100% of unprotected land appears in ≥1 near-optimal plan; 109/132 pairs of value positions are mutually near-optimal</a:t>
            </a:r>
          </a:p>
          <a:p>
            <a:pPr>
              <a:defRPr sz="1300"/>
            </a:pPr>
            <a:r>
              <a:t>The analysis does not forbid working anywhere relationships and feasibility are positive — it tells you what can be promised about each tier</a:t>
            </a:r>
          </a:p>
          <a:p>
            <a:pPr>
              <a:defRPr sz="1300"/>
            </a:pPr>
            <a:r>
              <a:t>PRIORITY ≠ PERMISSION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What each tier delivers</a:t>
            </a:r>
          </a:p>
        </p:txBody>
      </p:sp>
      <p:pic>
        <p:nvPicPr>
          <p:cNvPr id="3" name="Picture 2" descr="tier_achie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3603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Value captured per theme by cumulative tier (PAs → + core → + scenario tiers → + opportunity)</a:t>
            </a:r>
          </a:p>
          <a:p>
            <a:pPr>
              <a:defRPr sz="1300"/>
            </a:pPr>
            <a:r>
              <a:t>Red line/band = what a single optimal plan captures (balanced; range across all positions)</a:t>
            </a:r>
          </a:p>
          <a:p>
            <a:pPr>
              <a:defRPr sz="1300"/>
            </a:pPr>
            <a:r>
              <a:t>Pairs with T-D6: the promise per tier, in the currency of each value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E17 — an un-chosen 2° southern lean</a:t>
            </a:r>
          </a:p>
        </p:txBody>
      </p:sp>
      <p:pic>
        <p:nvPicPr>
          <p:cNvPr id="3" name="Picture 2" descr="e17_one_p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386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20/40 EFGs &gt;90% south of 53°N</a:t>
            </a:r>
          </a:p>
          <a:p>
            <a:pPr>
              <a:defRPr sz="1300"/>
            </a:pPr>
            <a:r>
              <a:t>Removing representativeness moves the plan +2.1° north</a:t>
            </a:r>
          </a:p>
          <a:p>
            <a:pPr>
              <a:defRPr sz="1300"/>
            </a:pPr>
            <a:r>
              <a:t>Decision for Y2Y: affirm the representativeness anchor at its measured price?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What we can promise — the map in one picture</a:t>
            </a:r>
          </a:p>
        </p:txBody>
      </p:sp>
      <p:pic>
        <p:nvPicPr>
          <p:cNvPr id="3" name="Picture 2" descr="summary_tiers_1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883717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Yellow = commit regardless of values (Act 2)</a:t>
            </a:r>
          </a:p>
          <a:p>
            <a:pPr>
              <a:defRPr sz="1300"/>
            </a:pPr>
            <a:r>
              <a:t>Coloured = joins the core if that value leads (Act 3; dark blue = more than one)</a:t>
            </a:r>
          </a:p>
          <a:p>
            <a:pPr>
              <a:defRPr sz="1300"/>
            </a:pPr>
            <a:r>
              <a:t>Light blue = defensible wherever feasibility is positive (Act 4)</a:t>
            </a:r>
          </a:p>
          <a:p>
            <a:pPr>
              <a:defRPr sz="1300"/>
            </a:pPr>
            <a:r>
              <a:t>Tiers are levels of reliability, not a fence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What we can promise</a:t>
            </a:r>
          </a:p>
        </p:txBody>
      </p:sp>
      <p:pic>
        <p:nvPicPr>
          <p:cNvPr id="3" name="Picture 2" descr="td2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4794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Core: recurs under every value position (commit)</a:t>
            </a:r>
          </a:p>
          <a:p>
            <a:pPr>
              <a:defRPr sz="1300"/>
            </a:pPr>
            <a:r>
              <a:t>Scenario tiers: join the core if that value leads (choose)</a:t>
            </a:r>
          </a:p>
          <a:p>
            <a:pPr>
              <a:defRPr sz="1300"/>
            </a:pPr>
            <a:r>
              <a:t>Opportunity: defensible wherever feasibility is positive (enable)</a:t>
            </a:r>
          </a:p>
          <a:p>
            <a:pPr>
              <a:defRPr sz="1300"/>
            </a:pPr>
            <a:r>
              <a:t>Next: cluster naming, E17 placement, ecoregion layer for T-D4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Appendix — How hard must a value lead before it owns land? (E18)</a:t>
            </a:r>
          </a:p>
        </p:txBody>
      </p:sp>
      <p:pic>
        <p:nvPicPr>
          <p:cNvPr id="3" name="Picture 2" descr="td_e18_d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863840" cy="27451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Pre-registered test: raise one value's emphasis and ask whether its tier is its own land or the refugia core under another name</a:t>
            </a:r>
          </a:p>
          <a:p>
            <a:pPr>
              <a:defRPr sz="1300"/>
            </a:pPr>
            <a:r>
              <a:t>Connectivity: at 2× the elicited emphasis it begins to own land (7,925 km²); at 5× it owns 31,780 km² — weight-limited, so its Act-2 statement holds at the elicited emphasis</a:t>
            </a:r>
          </a:p>
          <a:p>
            <a:pPr>
              <a:defRPr sz="1300"/>
            </a:pPr>
            <a:r>
              <a:t>Species richness: owns nothing at any emphasis — at 5× the tier is empty (max F 0.63); leaning harder only dissolves the refugia core</a:t>
            </a:r>
          </a:p>
          <a:p>
            <a:pPr>
              <a:defRPr sz="1300"/>
            </a:pPr>
            <a:r>
              <a:t>Carbon-forward is the one scenario that also states a security target (55% of dense soil carbon); given only the share doubling the others get, it would own 763 km², not 20,329 km² (E18) — the target, not the weight, is what buys carbon its own places</a:t>
            </a:r>
          </a:p>
          <a:p>
            <a:pPr>
              <a:defRPr sz="1300"/>
            </a:pPr>
            <a:r>
              <a:t>Reading rule for Act 2: each scenario's tier is stated at the elicited emphasis (influence share 0.50)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